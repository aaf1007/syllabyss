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3"/>
    <p:sldId id="257" r:id="rId1"/>
    <p:sldId id="258" r:id="rId2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sldImg"/>
          </p:nvPr>
        </p:nvSpPr>
        <p:txBody/>
      </p:sp>
      <p:sp>
        <p:nvSpPr>
          <p:cNvPr id="1" name="x"/>
          <p:cNvSpPr/>
          <p:nvPr>
            <p:ph type="body"/>
          </p:nvPr>
        </p:nvSpPr>
        <p:txBody>
          <a:p>
            <a:pPr lvl="0"/>
            <a:r>
              <a:t>Mention that Kruskal &amp; Prim are both greedy.</a:t>
            </a:r>
          </a:p>
        </p:txBody>
      </p:sp>
    </p:spTree>
  </p:cSld>
</p:notes>
</file>

<file path=ppt/slides/_rels/slide1.xml.rels><?xml version="1.0"?><Relationships xmlns="http://schemas.openxmlformats.org/package/2006/relationships"><Relationship Id="rId9" Type="http://schemas.openxmlformats.org/officeDocument/2006/relationships/notesSlide" Target="../notesSlides/notesSlide1.xml"/><Relationship Id="rIdLogo" Type="http://schemas.openxmlformats.org/officeDocument/2006/relationships/image" Target="../media/logo.png"/><Relationship Id="rIdDiagram" Type="http://schemas.openxmlformats.org/officeDocument/2006/relationships/image" Target="../media/diagram.png"/></Relationships>
</file>

<file path=ppt/slides/_rels/slide2.xml.rels><?xml version="1.0" encoding="UTF-8" standalone="yes"?><Relationships xmlns="http://schemas.openxmlformats.org/package/2006/relationships"><Relationship Id="rIdLogo" Type="http://schemas.openxmlformats.org/officeDocument/2006/relationships/image" Target="../media/logo.png"/></Relationships>
</file>

<file path=ppt/slides/_rels/slide3.xml.rels><?xml version="1.0" encoding="UTF-8" standalone="yes"?><Relationships xmlns="http://schemas.openxmlformats.org/package/2006/relationships"><Relationship Id="rIdLogo" Type="http://schemas.openxmlformats.org/officeDocument/2006/relationships/image" Target="../media/logo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pPr lvl="0"/>
            <a:r>
              <a:t>Minimum Spanning Trees</a:t>
            </a:r>
          </a:p>
        </p:txBody>
      </p:sp>
      <p:pic>
        <p:nvPicPr>
          <p:cNvPr id="91" name="Picture 91"/>
          <p:cNvPicPr/>
          <p:nvPr/>
        </p:nvPicPr>
        <p:blipFill>
          <a:blip r:embed="rIdDiagram"/>
          <a:stretch>
            <a:fillRect/>
          </a:stretch>
        </p:blipFill>
        <p:spPr>
          <a:xfrm>
            <a:off x="0" y="0"/>
            <a:ext cx="914400" cy="685800"/>
          </a:xfrm>
          <a:prstGeom prst="rect">
            <a:avLst/>
          </a:prstGeom>
        </p:spPr>
      </p:pic>
      <p:sp>
        <p:nvSpPr>
          <p:cNvPr id="1" name="x"/>
          <p:cNvSpPr/>
          <p:nvPr>
            <p:ph type="body"/>
          </p:nvPr>
        </p:nvSpPr>
        <p:txBody>
          <a:p>
            <a:pPr lvl="0"/>
            <a:r>
              <a:t>Kruskal's algorithm sorts edges by weight</a:t>
            </a:r>
          </a:p>
          <a:p>
            <a:pPr lvl="1"/>
            <a:r>
              <a:t>Uses union–find</a:t>
            </a:r>
          </a:p>
          <a:p>
            <a:pPr lvl="0"/>
            <a:r>
              <a:t>Prim's algorithm grows one tree</a:t>
            </a:r>
          </a:p>
          <a:p>
            <a:pPr lvl="0"/>
            <a:r>
              <a:t>Borůvka merges components</a:t>
            </a:r>
          </a:p>
        </p:txBody>
      </p:sp>
      <p:pic>
        <p:nvPicPr>
          <p:cNvPr id="90" name="Picture 90"/>
          <p:cNvPicPr/>
          <p:nvPr/>
        </p:nvPicPr>
        <p:blipFill>
          <a:blip r:embed="rIdLogo"/>
          <a:stretch>
            <a:fillRect/>
          </a:stretch>
        </p:blipFill>
        <p:spPr>
          <a:xfrm>
            <a:off x="0" y="0"/>
            <a:ext cx="914400" cy="6858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title"/>
          </p:nvPr>
        </p:nvSpPr>
        <p:txBody>
          <a:p>
            <a:pPr lvl="0"/>
            <a:r>
              <a:t>Running times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Algorithm</a:t>
                      </a:r>
                    </a:p>
                  </a:txBody>
                </a:tc>
                <a:tc>
                  <a:txBody>
                    <a:p>
                      <a:r>
                        <a:t>Time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Kruskal</a:t>
                      </a:r>
                    </a:p>
                  </a:txBody>
                </a:tc>
                <a:tc>
                  <a:txBody>
                    <a:p>
                      <a:r>
                        <a:t>O(E log E)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Prim</a:t>
                      </a:r>
                    </a:p>
                  </a:txBody>
                </a:tc>
                <a:tc>
                  <a:txBody>
                    <a:p>
                      <a:r>
                        <a:t>O(E log V)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90" name="Picture 90"/>
          <p:cNvPicPr/>
          <p:nvPr/>
        </p:nvPicPr>
        <p:blipFill>
          <a:blip r:embed="rIdLogo"/>
          <a:stretch>
            <a:fillRect/>
          </a:stretch>
        </p:blipFill>
        <p:spPr>
          <a:xfrm>
            <a:off x="0" y="0"/>
            <a:ext cx="914400" cy="6858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x"/>
          <p:cNvSpPr/>
          <p:nvPr>
            <p:ph type="ctrTitle"/>
          </p:nvPr>
        </p:nvSpPr>
        <p:txBody>
          <a:p>
            <a:pPr lvl="0"/>
            <a:r>
              <a:t>Graph Algorithms</a:t>
            </a:r>
          </a:p>
        </p:txBody>
      </p:sp>
      <p:sp>
        <p:nvSpPr>
          <p:cNvPr id="1" name="x"/>
          <p:cNvSpPr/>
          <p:nvPr>
            <p:ph type="subTitle"/>
          </p:nvPr>
        </p:nvSpPr>
        <p:txBody>
          <a:p>
            <a:pPr lvl="0"/>
            <a:r>
              <a:t>CMPT 307 · Week 9</a:t>
            </a:r>
          </a:p>
        </p:txBody>
      </p:sp>
      <p:sp>
        <p:nvSpPr>
          <p:cNvPr id="1" name="x"/>
          <p:cNvSpPr/>
          <p:nvPr>
            <p:ph type="sldNum"/>
          </p:nvPr>
        </p:nvSpPr>
        <p:txBody>
          <a:p>
            <a:pPr lvl="0"/>
            <a:r>
              <a:t>1</a:t>
            </a:r>
          </a:p>
        </p:txBody>
      </p:sp>
      <p:pic>
        <p:nvPicPr>
          <p:cNvPr id="90" name="Picture 90"/>
          <p:cNvPicPr/>
          <p:nvPr/>
        </p:nvPicPr>
        <p:blipFill>
          <a:blip r:embed="rIdLogo"/>
          <a:stretch>
            <a:fillRect/>
          </a:stretch>
        </p:blipFill>
        <p:spPr>
          <a:xfrm>
            <a:off x="0" y="0"/>
            <a:ext cx="914400" cy="685800"/>
          </a:xfrm>
          <a:prstGeom prst="rect">
            <a:avLst/>
          </a:prstGeom>
        </p:spPr>
      </p:pic>
    </p:spTree>
  </p:cSld>
</p:sld>
</file>